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3" r:id="rId3"/>
    <p:sldId id="269" r:id="rId4"/>
    <p:sldId id="259" r:id="rId5"/>
    <p:sldId id="284" r:id="rId6"/>
    <p:sldId id="270" r:id="rId7"/>
    <p:sldId id="281" r:id="rId8"/>
    <p:sldId id="282" r:id="rId9"/>
    <p:sldId id="263" r:id="rId10"/>
    <p:sldId id="286" r:id="rId11"/>
    <p:sldId id="287" r:id="rId12"/>
    <p:sldId id="265" r:id="rId13"/>
    <p:sldId id="268" r:id="rId14"/>
    <p:sldId id="285"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lavadi lakshmi naga harika" initials="c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67750E-8DE6-4093-9D33-20DD78394D0D}" v="3" dt="2025-12-23T05:12:51.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14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smtClean="0"/>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smtClean="0"/>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smtClean="0"/>
              <a:t>12/23/2025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smtClean="0"/>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12/23/2025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12/23/2025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smtClean="0"/>
              <a:t>12/23/2025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smtClean="0"/>
              <a:t>12/23/2025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smtClean="0"/>
              <a:t>12/23/2025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0276" y="1239034"/>
            <a:ext cx="9339944" cy="1632186"/>
          </a:xfrm>
        </p:spPr>
        <p:txBody>
          <a:bodyPr>
            <a:noAutofit/>
          </a:bodyPr>
          <a:lstStyle/>
          <a:p>
            <a:pPr>
              <a:lnSpc>
                <a:spcPct val="150000"/>
              </a:lnSpc>
            </a:pPr>
            <a:br>
              <a:rPr lang="en-GB" sz="1800" b="1" dirty="0">
                <a:latin typeface="Times New Roman" panose="02020603050405020304" pitchFamily="18" charset="0"/>
                <a:cs typeface="Times New Roman" panose="02020603050405020304" pitchFamily="18" charset="0"/>
              </a:rPr>
            </a:br>
            <a:br>
              <a:rPr lang="en-GB" sz="1800" b="1" dirty="0">
                <a:latin typeface="Times New Roman" panose="02020603050405020304" pitchFamily="18" charset="0"/>
                <a:cs typeface="Times New Roman" panose="02020603050405020304" pitchFamily="18" charset="0"/>
              </a:rPr>
            </a:br>
            <a:r>
              <a:rPr lang="en-GB" sz="1800" b="1" dirty="0">
                <a:latin typeface="Times New Roman" panose="02020603050405020304" pitchFamily="18" charset="0"/>
                <a:cs typeface="Times New Roman" panose="02020603050405020304" pitchFamily="18" charset="0"/>
              </a:rPr>
              <a:t>Anomaly Detection of Audio Based on Real Audio Using GANs model</a:t>
            </a:r>
            <a:br>
              <a:rPr lang="en-IN" dirty="0"/>
            </a:br>
            <a:b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78320" y="3796704"/>
            <a:ext cx="4804599" cy="2830749"/>
          </a:xfrm>
        </p:spPr>
        <p:txBody>
          <a:bodyPr>
            <a:noAutofit/>
          </a:bodyPr>
          <a:lstStyle/>
          <a:p>
            <a:pPr algn="just"/>
            <a:r>
              <a:rPr lang="en-IN" sz="1800" dirty="0">
                <a:latin typeface="Times New Roman" panose="02020603050405020304" pitchFamily="18" charset="0"/>
                <a:cs typeface="Times New Roman" panose="02020603050405020304" pitchFamily="18" charset="0"/>
              </a:rPr>
              <a:t>Branch &amp; Year:  AI&amp;ML (</a:t>
            </a:r>
            <a:r>
              <a:rPr lang="en-US" altLang="en-IN" sz="1800" dirty="0">
                <a:latin typeface="Times New Roman" panose="02020603050405020304" pitchFamily="18" charset="0"/>
                <a:cs typeface="Times New Roman" panose="02020603050405020304" pitchFamily="18" charset="0"/>
              </a:rPr>
              <a:t>4</a:t>
            </a:r>
            <a:r>
              <a:rPr lang="en-IN" altLang="en-IN" sz="1800" baseline="30000" dirty="0" err="1">
                <a:latin typeface="Times New Roman" panose="02020603050405020304" pitchFamily="18" charset="0"/>
                <a:cs typeface="Times New Roman" panose="02020603050405020304" pitchFamily="18" charset="0"/>
              </a:rPr>
              <a:t>th</a:t>
            </a:r>
            <a:r>
              <a:rPr lang="en-IN" sz="1800" dirty="0">
                <a:latin typeface="Times New Roman" panose="02020603050405020304" pitchFamily="18" charset="0"/>
                <a:cs typeface="Times New Roman" panose="02020603050405020304" pitchFamily="18" charset="0"/>
              </a:rPr>
              <a:t> YR 2</a:t>
            </a:r>
            <a:r>
              <a:rPr lang="en-IN" sz="1800" baseline="30000" dirty="0">
                <a:latin typeface="Times New Roman" panose="02020603050405020304" pitchFamily="18" charset="0"/>
                <a:cs typeface="Times New Roman" panose="02020603050405020304" pitchFamily="18" charset="0"/>
              </a:rPr>
              <a:t>nd</a:t>
            </a:r>
            <a:r>
              <a:rPr lang="en-IN" sz="1800" dirty="0">
                <a:latin typeface="Times New Roman" panose="02020603050405020304" pitchFamily="18" charset="0"/>
                <a:cs typeface="Times New Roman" panose="02020603050405020304" pitchFamily="18" charset="0"/>
              </a:rPr>
              <a:t> SEM)</a:t>
            </a:r>
          </a:p>
          <a:p>
            <a:pPr algn="just"/>
            <a:r>
              <a:rPr lang="en-GB" sz="1800" dirty="0">
                <a:latin typeface="Times New Roman" panose="02020603050405020304" pitchFamily="18" charset="0"/>
                <a:cs typeface="Times New Roman" panose="02020603050405020304" pitchFamily="18" charset="0"/>
              </a:rPr>
              <a:t>G. Kavya Kruthika</a:t>
            </a:r>
            <a:r>
              <a:rPr lang="en-IN" sz="1800" dirty="0">
                <a:latin typeface="Times New Roman" panose="02020603050405020304" pitchFamily="18" charset="0"/>
                <a:cs typeface="Times New Roman" panose="02020603050405020304" pitchFamily="18" charset="0"/>
              </a:rPr>
              <a:t> - 22RH1A66</a:t>
            </a:r>
            <a:r>
              <a:rPr lang="en-GB" sz="1800" dirty="0">
                <a:latin typeface="Times New Roman" panose="02020603050405020304" pitchFamily="18" charset="0"/>
                <a:cs typeface="Times New Roman" panose="02020603050405020304" pitchFamily="18" charset="0"/>
              </a:rPr>
              <a:t>71</a:t>
            </a:r>
            <a:endParaRPr lang="en-IN" sz="1800" dirty="0">
              <a:latin typeface="Times New Roman" panose="02020603050405020304" pitchFamily="18" charset="0"/>
              <a:cs typeface="Times New Roman" panose="02020603050405020304" pitchFamily="18" charset="0"/>
            </a:endParaRPr>
          </a:p>
          <a:p>
            <a:pPr algn="just"/>
            <a:r>
              <a:rPr lang="en-GB" sz="1800" dirty="0">
                <a:latin typeface="Times New Roman" panose="02020603050405020304" pitchFamily="18" charset="0"/>
                <a:cs typeface="Times New Roman" panose="02020603050405020304" pitchFamily="18" charset="0"/>
              </a:rPr>
              <a:t>Neeraja Hannala</a:t>
            </a:r>
            <a:r>
              <a:rPr lang="en-IN" sz="180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- 22RH1A66</a:t>
            </a:r>
            <a:r>
              <a:rPr lang="en-GB" sz="1800" dirty="0">
                <a:latin typeface="Times New Roman" panose="02020603050405020304" pitchFamily="18" charset="0"/>
                <a:cs typeface="Times New Roman" panose="02020603050405020304" pitchFamily="18" charset="0"/>
              </a:rPr>
              <a:t>72</a:t>
            </a:r>
            <a:endParaRPr lang="en-IN" sz="1800" dirty="0">
              <a:latin typeface="Times New Roman" panose="02020603050405020304" pitchFamily="18" charset="0"/>
              <a:cs typeface="Times New Roman" panose="02020603050405020304" pitchFamily="18" charset="0"/>
            </a:endParaRPr>
          </a:p>
          <a:p>
            <a:pPr algn="just"/>
            <a:r>
              <a:rPr lang="en-GB" sz="1800" dirty="0">
                <a:latin typeface="Times New Roman" panose="02020603050405020304" pitchFamily="18" charset="0"/>
                <a:cs typeface="Times New Roman" panose="02020603050405020304" pitchFamily="18" charset="0"/>
              </a:rPr>
              <a:t>J. Kalpana              </a:t>
            </a:r>
            <a:r>
              <a:rPr lang="en-IN" sz="1800" dirty="0">
                <a:latin typeface="Times New Roman" panose="02020603050405020304" pitchFamily="18" charset="0"/>
                <a:cs typeface="Times New Roman" panose="02020603050405020304" pitchFamily="18" charset="0"/>
              </a:rPr>
              <a:t> - 22RH1A66</a:t>
            </a:r>
            <a:r>
              <a:rPr lang="en-GB" sz="1800" dirty="0">
                <a:latin typeface="Times New Roman" panose="02020603050405020304" pitchFamily="18" charset="0"/>
                <a:cs typeface="Times New Roman" panose="02020603050405020304" pitchFamily="18" charset="0"/>
              </a:rPr>
              <a:t>73</a:t>
            </a:r>
            <a:endParaRPr lang="en-IN" sz="1800"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rPr>
              <a:t>Guide :Dr. VAMSI KRISHNA</a:t>
            </a:r>
            <a:endParaRPr lang="en-US" altLang="en-IN"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608" y="796960"/>
            <a:ext cx="9153727" cy="1188720"/>
          </a:xfrm>
        </p:spPr>
        <p:txBody>
          <a:bodyPr/>
          <a:lstStyle/>
          <a:p>
            <a:r>
              <a:rPr lang="en-US" dirty="0"/>
              <a:t>INTRODUCTION</a:t>
            </a:r>
            <a:endParaRPr lang="en-IN" dirty="0"/>
          </a:p>
        </p:txBody>
      </p:sp>
      <p:sp>
        <p:nvSpPr>
          <p:cNvPr id="3" name="Content Placeholder 2"/>
          <p:cNvSpPr>
            <a:spLocks noGrp="1"/>
          </p:cNvSpPr>
          <p:nvPr>
            <p:ph idx="1"/>
          </p:nvPr>
        </p:nvSpPr>
        <p:spPr>
          <a:xfrm>
            <a:off x="1585607" y="2667947"/>
            <a:ext cx="9153727" cy="3351441"/>
          </a:xfrm>
        </p:spPr>
        <p:txBody>
          <a:bodyPr>
            <a:noAutofit/>
          </a:bodyPr>
          <a:lstStyle/>
          <a:p>
            <a:pPr algn="just"/>
            <a:r>
              <a:rPr lang="en-GB" dirty="0"/>
              <a:t>Anomaly </a:t>
            </a:r>
            <a:r>
              <a:rPr lang="en-IN" dirty="0"/>
              <a:t>audio can be used for malicious purposes such as impersonating individuals, bypassing voice authentication systems, spreading misinformation, or committing fraud. As synthetic speech becomes more realistic, it becomes increasingly difficult for humans and traditional detection tools to identify whether an audio clip is real or fake. This raises significant concerns for digital security, privacy, and trust in audio communication.</a:t>
            </a:r>
          </a:p>
          <a:p>
            <a:pPr algn="just"/>
            <a:r>
              <a:rPr lang="en-IN" dirty="0"/>
              <a:t>To address this issue, our project proposes an AI-based detection system that uses spectrogram analysis and deep learning to identify deepfake audio. The system converts audio inputs into Mel-spectrograms, which are visual representations of sound frequency over time. These spectrograms highlight subtle differences in pitch, tone, and noise artifacts that are often present in synthetic speech. A Convolutional Neural Network (CNN) is then trained to classify the spectrograms as either “Real” or “Fake.”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900" y="364056"/>
            <a:ext cx="9482017" cy="1070297"/>
          </a:xfrm>
        </p:spPr>
        <p:txBody>
          <a:bodyPr/>
          <a:lstStyle/>
          <a:p>
            <a:r>
              <a:rPr lang="en-IN" dirty="0"/>
              <a:t>EXISTING SYSTEM</a:t>
            </a:r>
          </a:p>
        </p:txBody>
      </p:sp>
      <p:sp>
        <p:nvSpPr>
          <p:cNvPr id="3" name="Content Placeholder 2"/>
          <p:cNvSpPr>
            <a:spLocks noGrp="1"/>
          </p:cNvSpPr>
          <p:nvPr>
            <p:ph idx="1"/>
          </p:nvPr>
        </p:nvSpPr>
        <p:spPr>
          <a:xfrm>
            <a:off x="952900" y="1733056"/>
            <a:ext cx="9482017" cy="4501359"/>
          </a:xfrm>
        </p:spPr>
        <p:txBody>
          <a:bodyPr>
            <a:normAutofit/>
          </a:bodyPr>
          <a:lstStyle/>
          <a:p>
            <a:pPr algn="just"/>
            <a:r>
              <a:rPr lang="en-US" dirty="0"/>
              <a:t>Current methods of detecting audio forgeries rely on manual analysis or simple feature extraction techniques such as MFCCs or audio fingerprints. These approaches often fail when adversarial attacks are introduced or when deepfake audio is generated with high-quality neural network models like </a:t>
            </a:r>
            <a:r>
              <a:rPr lang="en-US" dirty="0" err="1"/>
              <a:t>WaveNet</a:t>
            </a:r>
            <a:r>
              <a:rPr lang="en-US" dirty="0"/>
              <a:t>.</a:t>
            </a:r>
            <a:endParaRPr lang="en-IN" dirty="0"/>
          </a:p>
          <a:p>
            <a:pPr marL="0" indent="0" algn="just">
              <a:buNone/>
            </a:pPr>
            <a:endParaRPr lang="en-IN" dirty="0"/>
          </a:p>
          <a:p>
            <a:pPr marL="0" indent="0">
              <a:buNone/>
            </a:pPr>
            <a:r>
              <a:rPr lang="en-US" b="1" dirty="0"/>
              <a:t>    Disadvantages</a:t>
            </a:r>
            <a:endParaRPr lang="en-IN" b="1" dirty="0"/>
          </a:p>
          <a:p>
            <a:pPr lvl="0"/>
            <a:r>
              <a:rPr lang="en-IN" dirty="0"/>
              <a:t>Poor generalization across datasets</a:t>
            </a:r>
          </a:p>
          <a:p>
            <a:pPr lvl="0"/>
            <a:r>
              <a:rPr lang="en-IN" dirty="0"/>
              <a:t>Inability to handle modern neural deepfakes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313" y="648002"/>
            <a:ext cx="9694943" cy="1213732"/>
          </a:xfrm>
        </p:spPr>
        <p:txBody>
          <a:bodyPr/>
          <a:lstStyle/>
          <a:p>
            <a:r>
              <a:rPr lang="en-US" dirty="0"/>
              <a:t>P</a:t>
            </a:r>
            <a:r>
              <a:rPr lang="en-IN" dirty="0"/>
              <a:t>ROBLEM STATEMENT</a:t>
            </a:r>
          </a:p>
        </p:txBody>
      </p:sp>
      <p:sp>
        <p:nvSpPr>
          <p:cNvPr id="3" name="Content Placeholder 2"/>
          <p:cNvSpPr>
            <a:spLocks noGrp="1"/>
          </p:cNvSpPr>
          <p:nvPr>
            <p:ph idx="1"/>
          </p:nvPr>
        </p:nvSpPr>
        <p:spPr>
          <a:xfrm>
            <a:off x="1060314" y="2302464"/>
            <a:ext cx="9694943" cy="3300668"/>
          </a:xfrm>
        </p:spPr>
        <p:txBody>
          <a:bodyPr>
            <a:normAutofit/>
          </a:bodyPr>
          <a:lstStyle/>
          <a:p>
            <a:pPr marL="0" indent="0" algn="just">
              <a:buNone/>
            </a:pPr>
            <a:r>
              <a:rPr lang="en-US" dirty="0"/>
              <a:t>With the rapid advancement of AI-driven voice synthesis, detecting deepfake audio has become a critical challenge, as such falsified audio can be misused for fraud, misinformation, and security breaches. This project addresses the problem by developing an automated system that analyzes audio signals using spectrogram-based features and machine learning models to accurately distinguish between genuine and deepfake audio.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757" y="828505"/>
            <a:ext cx="9997772" cy="1579996"/>
          </a:xfrm>
        </p:spPr>
        <p:txBody>
          <a:bodyPr/>
          <a:lstStyle/>
          <a:p>
            <a:r>
              <a:rPr lang="en-US" dirty="0"/>
              <a:t>OBJECTIVES</a:t>
            </a:r>
            <a:endParaRPr lang="en-IN" dirty="0"/>
          </a:p>
        </p:txBody>
      </p:sp>
      <p:sp>
        <p:nvSpPr>
          <p:cNvPr id="9" name="Rectangle 4">
            <a:extLst>
              <a:ext uri="{FF2B5EF4-FFF2-40B4-BE49-F238E27FC236}">
                <a16:creationId xmlns:a16="http://schemas.microsoft.com/office/drawing/2014/main" id="{F7F161ED-58C9-F1A0-F2DB-37E58CCDFB0B}"/>
              </a:ext>
            </a:extLst>
          </p:cNvPr>
          <p:cNvSpPr>
            <a:spLocks noGrp="1" noChangeArrowheads="1"/>
          </p:cNvSpPr>
          <p:nvPr>
            <p:ph idx="1"/>
          </p:nvPr>
        </p:nvSpPr>
        <p:spPr bwMode="auto">
          <a:xfrm>
            <a:off x="984757" y="2695174"/>
            <a:ext cx="999777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an automated system capable of distinguishing between genuine and </a:t>
            </a:r>
            <a:r>
              <a:rPr kumimoji="0" lang="en-US" altLang="en-US" sz="1800" b="0" i="0" u="none" strike="noStrike" cap="none" normalizeH="0" baseline="0" dirty="0" err="1">
                <a:ln>
                  <a:noFill/>
                </a:ln>
                <a:solidFill>
                  <a:schemeClr val="tx1"/>
                </a:solidFill>
                <a:effectLst/>
                <a:latin typeface="Arial" panose="020B0604020202020204" pitchFamily="34" charset="0"/>
              </a:rPr>
              <a:t>deepfake</a:t>
            </a:r>
            <a:r>
              <a:rPr kumimoji="0" lang="en-US" altLang="en-US" sz="1800" b="0" i="0" u="none" strike="noStrike" cap="none" normalizeH="0" baseline="0" dirty="0">
                <a:ln>
                  <a:noFill/>
                </a:ln>
                <a:solidFill>
                  <a:schemeClr val="tx1"/>
                </a:solidFill>
                <a:effectLst/>
                <a:latin typeface="Arial" panose="020B0604020202020204" pitchFamily="34" charset="0"/>
              </a:rPr>
              <a:t> audio.</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extract and analyze audio features using Mel-spectrograms for reliable classification.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apply machine learning/deep learning techniques for accurate detection of synthetic audio.</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create a user-friendly web interface for uploading and analyzing audio files in real time.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enhance security and trust by mitigating risks associated with </a:t>
            </a:r>
            <a:r>
              <a:rPr kumimoji="0" lang="en-US" altLang="en-US" sz="1800" b="0" i="0" u="none" strike="noStrike" cap="none" normalizeH="0" baseline="0" dirty="0" err="1">
                <a:ln>
                  <a:noFill/>
                </a:ln>
                <a:solidFill>
                  <a:schemeClr val="tx1"/>
                </a:solidFill>
                <a:effectLst/>
                <a:latin typeface="Arial" panose="020B0604020202020204" pitchFamily="34" charset="0"/>
              </a:rPr>
              <a:t>deepfake</a:t>
            </a:r>
            <a:r>
              <a:rPr kumimoji="0" lang="en-US" altLang="en-US" sz="1800" b="0" i="0" u="none" strike="noStrike" cap="none" normalizeH="0" baseline="0" dirty="0">
                <a:ln>
                  <a:noFill/>
                </a:ln>
                <a:solidFill>
                  <a:schemeClr val="tx1"/>
                </a:solidFill>
                <a:effectLst/>
                <a:latin typeface="Arial" panose="020B0604020202020204" pitchFamily="34" charset="0"/>
              </a:rPr>
              <a:t> audio misuse.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1659" y="344146"/>
            <a:ext cx="9740106" cy="1188720"/>
          </a:xfrm>
        </p:spPr>
        <p:txBody>
          <a:bodyPr/>
          <a:lstStyle/>
          <a:p>
            <a:r>
              <a:rPr lang="en-IN" dirty="0"/>
              <a:t>PROPOSED SYSTEM</a:t>
            </a:r>
          </a:p>
        </p:txBody>
      </p:sp>
      <p:sp>
        <p:nvSpPr>
          <p:cNvPr id="10" name="Rectangle 6">
            <a:extLst>
              <a:ext uri="{FF2B5EF4-FFF2-40B4-BE49-F238E27FC236}">
                <a16:creationId xmlns:a16="http://schemas.microsoft.com/office/drawing/2014/main" id="{16EF0755-DF2F-FDE5-537E-3E382D151AC2}"/>
              </a:ext>
            </a:extLst>
          </p:cNvPr>
          <p:cNvSpPr>
            <a:spLocks noGrp="1" noChangeArrowheads="1"/>
          </p:cNvSpPr>
          <p:nvPr>
            <p:ph idx="1"/>
          </p:nvPr>
        </p:nvSpPr>
        <p:spPr bwMode="auto">
          <a:xfrm>
            <a:off x="1241660" y="1548824"/>
            <a:ext cx="9740106" cy="5669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IN" dirty="0"/>
              <a:t>The system consists of audio preprocessing, spectrogram generation, and a CNN-based classifier. Mel-spectrograms are generated using </a:t>
            </a:r>
            <a:r>
              <a:rPr lang="en-IN" dirty="0" err="1"/>
              <a:t>Librosa</a:t>
            </a:r>
            <a:r>
              <a:rPr lang="en-IN" dirty="0"/>
              <a:t>, resized and normalized before being passed through the model. The CNN includes convolutional layers for feature extraction, pooling for dimensionality reduction, and dense layers for final classification. A simple GUI built with </a:t>
            </a:r>
            <a:r>
              <a:rPr lang="en-IN" dirty="0" err="1"/>
              <a:t>Tkinter</a:t>
            </a:r>
            <a:r>
              <a:rPr lang="en-IN" dirty="0"/>
              <a:t> allows users to upload audio files and receive predictions instantly. This architecture is designed for high accuracy, scalability, and ease of integration into real-world applications such as media platforms, security systems, and forensic tools.</a:t>
            </a:r>
          </a:p>
          <a:p>
            <a:endParaRPr lang="en-US" altLang="en-US" dirty="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lang="en-US" altLang="en-US" dirty="0">
                <a:solidFill>
                  <a:schemeClr val="tx1"/>
                </a:solidFill>
                <a:latin typeface="Times New Roman" panose="02020603050405020304" pitchFamily="18" charset="0"/>
                <a:cs typeface="Times New Roman" panose="02020603050405020304" pitchFamily="18" charset="0"/>
              </a:rPr>
              <a:t>ADVANTAGES :</a:t>
            </a:r>
          </a:p>
          <a:p>
            <a:pPr lvl="0"/>
            <a:r>
              <a:rPr lang="en-IN" dirty="0"/>
              <a:t>High detection accuracy</a:t>
            </a:r>
          </a:p>
          <a:p>
            <a:pPr lvl="0"/>
            <a:r>
              <a:rPr lang="en-IN" dirty="0"/>
              <a:t>End-to-end automation</a:t>
            </a:r>
          </a:p>
          <a:p>
            <a:pPr lvl="0"/>
            <a:r>
              <a:rPr lang="en-IN" dirty="0"/>
              <a:t>Spectrogram-based feature analysis</a:t>
            </a:r>
          </a:p>
          <a:p>
            <a:pPr lvl="0"/>
            <a:r>
              <a:rPr lang="en-IN" dirty="0"/>
              <a:t>Easy-to-use GUI</a:t>
            </a: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lang="en-US" altLang="en-US" dirty="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5822" y="628790"/>
            <a:ext cx="7729728" cy="1188720"/>
          </a:xfrm>
        </p:spPr>
        <p:txBody>
          <a:bodyPr>
            <a:normAutofit fontScale="90000"/>
          </a:bodyPr>
          <a:lstStyle/>
          <a:p>
            <a:br>
              <a:rPr lang="en-US" dirty="0"/>
            </a:br>
            <a:r>
              <a:rPr lang="en-US" sz="3100" dirty="0"/>
              <a:t>METHODOLOGY</a:t>
            </a:r>
            <a:br>
              <a:rPr lang="en-US" dirty="0"/>
            </a:br>
            <a:endParaRPr lang="en-IN" dirty="0"/>
          </a:p>
        </p:txBody>
      </p:sp>
      <p:pic>
        <p:nvPicPr>
          <p:cNvPr id="5" name="Picture 4">
            <a:extLst>
              <a:ext uri="{FF2B5EF4-FFF2-40B4-BE49-F238E27FC236}">
                <a16:creationId xmlns:a16="http://schemas.microsoft.com/office/drawing/2014/main" id="{EB3A15B0-F9AD-292D-11BE-952FE3AD9286}"/>
              </a:ext>
            </a:extLst>
          </p:cNvPr>
          <p:cNvPicPr>
            <a:picLocks noChangeAspect="1"/>
          </p:cNvPicPr>
          <p:nvPr/>
        </p:nvPicPr>
        <p:blipFill>
          <a:blip r:embed="rId2"/>
          <a:srcRect t="3307" b="18377"/>
          <a:stretch>
            <a:fillRect/>
          </a:stretch>
        </p:blipFill>
        <p:spPr>
          <a:xfrm>
            <a:off x="3810000" y="1971040"/>
            <a:ext cx="3901440" cy="4368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248891"/>
            <a:ext cx="7729728" cy="903383"/>
          </a:xfrm>
        </p:spPr>
        <p:txBody>
          <a:bodyPr/>
          <a:lstStyle/>
          <a:p>
            <a:r>
              <a:rPr lang="en-US" dirty="0"/>
              <a:t>RESULTS</a:t>
            </a:r>
            <a:endParaRPr lang="en-IN" dirty="0"/>
          </a:p>
        </p:txBody>
      </p:sp>
      <p:sp>
        <p:nvSpPr>
          <p:cNvPr id="10" name="TextBox 9">
            <a:extLst>
              <a:ext uri="{FF2B5EF4-FFF2-40B4-BE49-F238E27FC236}">
                <a16:creationId xmlns:a16="http://schemas.microsoft.com/office/drawing/2014/main" id="{CABEE132-811A-E15F-494D-ECC5CAF1B7BE}"/>
              </a:ext>
            </a:extLst>
          </p:cNvPr>
          <p:cNvSpPr txBox="1"/>
          <p:nvPr/>
        </p:nvSpPr>
        <p:spPr>
          <a:xfrm>
            <a:off x="2708693" y="5848710"/>
            <a:ext cx="6832121" cy="553998"/>
          </a:xfrm>
          <a:prstGeom prst="rect">
            <a:avLst/>
          </a:prstGeom>
          <a:noFill/>
        </p:spPr>
        <p:txBody>
          <a:bodyPr wrap="square">
            <a:spAutoFit/>
          </a:bodyPr>
          <a:lstStyle/>
          <a:p>
            <a:pPr marL="448310" marR="536575" algn="ctr">
              <a:buNone/>
            </a:pPr>
            <a:endParaRPr lang="en-IN" sz="1800" dirty="0">
              <a:effectLst/>
              <a:latin typeface="Times New Roman" panose="02020603050405020304" pitchFamily="18" charset="0"/>
              <a:ea typeface="Times New Roman" panose="02020603050405020304" pitchFamily="18" charset="0"/>
            </a:endParaRPr>
          </a:p>
          <a:p>
            <a:pPr>
              <a:buNone/>
            </a:pPr>
            <a:r>
              <a:rPr lang="en-US" sz="12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E1BF069E-FDF1-8A58-F7CE-CBB48BE61E51}"/>
              </a:ext>
            </a:extLst>
          </p:cNvPr>
          <p:cNvPicPr>
            <a:picLocks noChangeAspect="1"/>
          </p:cNvPicPr>
          <p:nvPr/>
        </p:nvPicPr>
        <p:blipFill>
          <a:blip r:embed="rId2"/>
          <a:stretch>
            <a:fillRect/>
          </a:stretch>
        </p:blipFill>
        <p:spPr>
          <a:xfrm>
            <a:off x="2231136" y="1229360"/>
            <a:ext cx="7729728" cy="3830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6506" y="405892"/>
            <a:ext cx="7729728" cy="975039"/>
          </a:xfrm>
        </p:spPr>
        <p:txBody>
          <a:bodyPr/>
          <a:lstStyle/>
          <a:p>
            <a:r>
              <a:rPr lang="en-IN" dirty="0" err="1"/>
              <a:t>resultS</a:t>
            </a:r>
            <a:endParaRPr lang="en-IN" dirty="0"/>
          </a:p>
        </p:txBody>
      </p:sp>
      <p:pic>
        <p:nvPicPr>
          <p:cNvPr id="4" name="Picture 3">
            <a:extLst>
              <a:ext uri="{FF2B5EF4-FFF2-40B4-BE49-F238E27FC236}">
                <a16:creationId xmlns:a16="http://schemas.microsoft.com/office/drawing/2014/main" id="{A01B8797-6A57-EFFA-E7EE-227544298C6D}"/>
              </a:ext>
            </a:extLst>
          </p:cNvPr>
          <p:cNvPicPr>
            <a:picLocks noChangeAspect="1"/>
          </p:cNvPicPr>
          <p:nvPr/>
        </p:nvPicPr>
        <p:blipFill>
          <a:blip r:embed="rId2"/>
          <a:stretch>
            <a:fillRect/>
          </a:stretch>
        </p:blipFill>
        <p:spPr>
          <a:xfrm>
            <a:off x="2066506" y="1463041"/>
            <a:ext cx="7729728" cy="4023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690372"/>
            <a:ext cx="7729728" cy="1188720"/>
          </a:xfrm>
        </p:spPr>
        <p:txBody>
          <a:bodyPr/>
          <a:lstStyle/>
          <a:p>
            <a:r>
              <a:rPr lang="en-US" dirty="0"/>
              <a:t>RESULTS</a:t>
            </a:r>
            <a:endParaRPr lang="en-IN" dirty="0"/>
          </a:p>
        </p:txBody>
      </p:sp>
      <p:pic>
        <p:nvPicPr>
          <p:cNvPr id="5" name="Picture 4">
            <a:extLst>
              <a:ext uri="{FF2B5EF4-FFF2-40B4-BE49-F238E27FC236}">
                <a16:creationId xmlns:a16="http://schemas.microsoft.com/office/drawing/2014/main" id="{C5DCECC8-3848-3CE1-15EA-031AEC5C323E}"/>
              </a:ext>
            </a:extLst>
          </p:cNvPr>
          <p:cNvPicPr>
            <a:picLocks noChangeAspect="1"/>
          </p:cNvPicPr>
          <p:nvPr/>
        </p:nvPicPr>
        <p:blipFill>
          <a:blip r:embed="rId2"/>
          <a:stretch>
            <a:fillRect/>
          </a:stretch>
        </p:blipFill>
        <p:spPr>
          <a:xfrm>
            <a:off x="2231136" y="1971040"/>
            <a:ext cx="7729728" cy="41351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RESULTS</a:t>
            </a:r>
          </a:p>
        </p:txBody>
      </p:sp>
      <p:pic>
        <p:nvPicPr>
          <p:cNvPr id="7" name="Picture 6">
            <a:extLst>
              <a:ext uri="{FF2B5EF4-FFF2-40B4-BE49-F238E27FC236}">
                <a16:creationId xmlns:a16="http://schemas.microsoft.com/office/drawing/2014/main" id="{35AFE183-B67F-9E9D-E0FE-09D1D5772F24}"/>
              </a:ext>
            </a:extLst>
          </p:cNvPr>
          <p:cNvPicPr>
            <a:picLocks noChangeAspect="1"/>
          </p:cNvPicPr>
          <p:nvPr/>
        </p:nvPicPr>
        <p:blipFill>
          <a:blip r:embed="rId2"/>
          <a:stretch>
            <a:fillRect/>
          </a:stretch>
        </p:blipFill>
        <p:spPr>
          <a:xfrm>
            <a:off x="2231136" y="2275586"/>
            <a:ext cx="7729728" cy="42369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534" y="523613"/>
            <a:ext cx="9366985" cy="1188720"/>
          </a:xfrm>
        </p:spPr>
        <p:txBody>
          <a:bodyPr/>
          <a:lstStyle/>
          <a:p>
            <a:r>
              <a:rPr lang="en-IN" dirty="0"/>
              <a:t>conclusion</a:t>
            </a:r>
          </a:p>
        </p:txBody>
      </p:sp>
      <p:sp>
        <p:nvSpPr>
          <p:cNvPr id="3" name="Content Placeholder 2"/>
          <p:cNvSpPr>
            <a:spLocks noGrp="1"/>
          </p:cNvSpPr>
          <p:nvPr>
            <p:ph idx="1"/>
          </p:nvPr>
        </p:nvSpPr>
        <p:spPr>
          <a:xfrm>
            <a:off x="1526875" y="2028445"/>
            <a:ext cx="8866476" cy="4424113"/>
          </a:xfrm>
        </p:spPr>
        <p:txBody>
          <a:bodyPr>
            <a:normAutofit/>
          </a:bodyPr>
          <a:lstStyle/>
          <a:p>
            <a:pPr marL="0" indent="0" algn="just">
              <a:buNone/>
            </a:pPr>
            <a:r>
              <a:rPr lang="en-IN" b="1" dirty="0"/>
              <a:t>"Anomaly Detection of Audio Based on Real Audio Using GANs </a:t>
            </a:r>
            <a:r>
              <a:rPr lang="en-GB" b="1" dirty="0"/>
              <a:t>M</a:t>
            </a:r>
            <a:r>
              <a:rPr lang="en-IN" b="1" dirty="0"/>
              <a:t>ode</a:t>
            </a:r>
            <a:r>
              <a:rPr lang="en-GB" b="1" dirty="0"/>
              <a:t>l</a:t>
            </a:r>
            <a:r>
              <a:rPr lang="en-IN" b="1" dirty="0"/>
              <a:t>"</a:t>
            </a:r>
            <a:r>
              <a:rPr lang="en-IN" dirty="0"/>
              <a:t> successfully demonstrates an efficient approach to detecting fake audio using deep learning techniques. By converting audio into </a:t>
            </a:r>
            <a:r>
              <a:rPr lang="en-IN" b="1" dirty="0"/>
              <a:t>Mel-spectrograms</a:t>
            </a:r>
            <a:r>
              <a:rPr lang="en-IN" dirty="0"/>
              <a:t> and </a:t>
            </a:r>
            <a:r>
              <a:rPr lang="en-IN" b="1" dirty="0"/>
              <a:t>MFCCs</a:t>
            </a:r>
            <a:r>
              <a:rPr lang="en-IN" dirty="0"/>
              <a:t>, and </a:t>
            </a:r>
            <a:r>
              <a:rPr lang="en-IN" dirty="0" err="1"/>
              <a:t>analyzing</a:t>
            </a:r>
            <a:r>
              <a:rPr lang="en-IN" dirty="0"/>
              <a:t> them through </a:t>
            </a:r>
            <a:r>
              <a:rPr lang="en-IN" b="1" dirty="0"/>
              <a:t>CNN</a:t>
            </a:r>
            <a:r>
              <a:rPr lang="en-IN" dirty="0"/>
              <a:t> and </a:t>
            </a:r>
            <a:r>
              <a:rPr lang="en-IN" b="1" dirty="0"/>
              <a:t>CNN+GRU</a:t>
            </a:r>
            <a:r>
              <a:rPr lang="en-IN" dirty="0"/>
              <a:t> models, the system accurately distinguishes between real and deepfake audio. The integration with </a:t>
            </a:r>
            <a:r>
              <a:rPr lang="en-IN" b="1" dirty="0" err="1"/>
              <a:t>Streamlit</a:t>
            </a:r>
            <a:r>
              <a:rPr lang="en-IN" dirty="0"/>
              <a:t> provides a simple and interactive user interface for real-time predictions. The model achieved high accuracy and fast processing, making it suitable for real-world applications in media verification, security, and digital forensics.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257" y="542275"/>
            <a:ext cx="10131194" cy="1188720"/>
          </a:xfrm>
        </p:spPr>
        <p:txBody>
          <a:bodyPr/>
          <a:lstStyle/>
          <a:p>
            <a:r>
              <a:rPr lang="en-IN" dirty="0"/>
              <a:t>FUTURE SCOPE</a:t>
            </a:r>
          </a:p>
        </p:txBody>
      </p:sp>
      <p:sp>
        <p:nvSpPr>
          <p:cNvPr id="3" name="Content Placeholder 2"/>
          <p:cNvSpPr>
            <a:spLocks noGrp="1"/>
          </p:cNvSpPr>
          <p:nvPr>
            <p:ph idx="1"/>
          </p:nvPr>
        </p:nvSpPr>
        <p:spPr>
          <a:xfrm>
            <a:off x="1147313" y="2144985"/>
            <a:ext cx="9532189" cy="3646215"/>
          </a:xfrm>
        </p:spPr>
        <p:txBody>
          <a:bodyPr>
            <a:normAutofit/>
          </a:bodyPr>
          <a:lstStyle/>
          <a:p>
            <a:pPr marL="0" indent="0" algn="just">
              <a:buNone/>
            </a:pPr>
            <a:r>
              <a:rPr lang="en-IN" dirty="0"/>
              <a:t>Real-time deepfake detection in live audio streams is another promising direction. Integrating the system with streaming platforms could help prevent the spread of misinformation in real time. Additionally, combining deepfake detection with speaker verification could further strengthen voice authentication and improve reliability.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257" y="542275"/>
            <a:ext cx="10131194" cy="1188720"/>
          </a:xfrm>
        </p:spPr>
        <p:txBody>
          <a:bodyPr/>
          <a:lstStyle/>
          <a:p>
            <a:r>
              <a:rPr lang="en-US" dirty="0"/>
              <a:t>R</a:t>
            </a:r>
            <a:r>
              <a:rPr lang="en-IN" dirty="0"/>
              <a:t>EFERENCES</a:t>
            </a:r>
          </a:p>
        </p:txBody>
      </p:sp>
      <p:sp>
        <p:nvSpPr>
          <p:cNvPr id="3" name="Content Placeholder 2"/>
          <p:cNvSpPr>
            <a:spLocks noGrp="1"/>
          </p:cNvSpPr>
          <p:nvPr>
            <p:ph idx="1"/>
          </p:nvPr>
        </p:nvSpPr>
        <p:spPr>
          <a:xfrm>
            <a:off x="785256" y="2144985"/>
            <a:ext cx="10350103" cy="3646215"/>
          </a:xfrm>
        </p:spPr>
        <p:txBody>
          <a:bodyPr>
            <a:normAutofit/>
          </a:bodyPr>
          <a:lstStyle/>
          <a:p>
            <a:pPr marL="0" lvl="0" indent="0">
              <a:buNone/>
            </a:pPr>
            <a:r>
              <a:rPr lang="en-GB" dirty="0"/>
              <a:t>G. Lin, W. Luo, D. Luo, and J. Huang, ‘‘One class neural network with directed statistics pooling for spoofing speech detection,’’ IEEE Trans. Inf. Forensics Security, vol. 19, pp. 2581–2593, 2024, </a:t>
            </a:r>
            <a:r>
              <a:rPr lang="en-GB" dirty="0" err="1"/>
              <a:t>doi</a:t>
            </a:r>
            <a:r>
              <a:rPr lang="en-GB" dirty="0"/>
              <a:t>:
10.1109/TIFS.2024.3352429.</a:t>
            </a:r>
          </a:p>
          <a:p>
            <a:pPr marL="0" lvl="0" indent="0">
              <a:buNone/>
            </a:pPr>
            <a:r>
              <a:rPr lang="en-GB" dirty="0"/>
              <a:t>G. Lin, W. Luo, D. Luo, and J. Huang, ‘‘One-class neural network with directed statistics pooling for spoofing speech detection,’’ IEEE Trans. Inf. Forensics Security, vol. 19, pp. 2581–2593, 2024, </a:t>
            </a:r>
            <a:r>
              <a:rPr lang="en-GB" dirty="0" err="1"/>
              <a:t>doi</a:t>
            </a:r>
            <a:r>
              <a:rPr lang="en-GB" dirty="0"/>
              <a:t>: 10.1109/TIFS.2024.3352429.</a:t>
            </a:r>
          </a:p>
          <a:p>
            <a:pPr marL="0" lvl="0" indent="0">
              <a:buNone/>
            </a:pP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a:t>Thank you.</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oscular disease prediction ipd1</Template>
  <TotalTime>119</TotalTime>
  <Words>794</Words>
  <Application>Microsoft Office PowerPoint</Application>
  <PresentationFormat>Widescreen</PresentationFormat>
  <Paragraphs>47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Gill Sans MT</vt:lpstr>
      <vt:lpstr>Times New Roman</vt:lpstr>
      <vt:lpstr>Parcel</vt:lpstr>
      <vt:lpstr>  Anomaly Detection of Audio Based on Real Audio Using GANs model   </vt:lpstr>
      <vt:lpstr>INTRODUCTION</vt:lpstr>
      <vt:lpstr>EXISTING SYSTEM</vt:lpstr>
      <vt:lpstr>PROBLEM STATEMENT</vt:lpstr>
      <vt:lpstr>OBJECTIVES</vt:lpstr>
      <vt:lpstr>PROPOSED SYSTEM</vt:lpstr>
      <vt:lpstr> METHODOLOGY </vt:lpstr>
      <vt:lpstr>RESULTS</vt:lpstr>
      <vt:lpstr>resultS</vt:lpstr>
      <vt:lpstr>RESULTS</vt:lpstr>
      <vt:lpstr>RESULTS</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OCULAR DISEASE PREDICTION</dc:title>
  <dc:creator>chalavadi lakshmi naga harika</dc:creator>
  <cp:lastModifiedBy>Neeru Samiksha</cp:lastModifiedBy>
  <cp:revision>23</cp:revision>
  <dcterms:created xsi:type="dcterms:W3CDTF">2023-10-31T18:31:00Z</dcterms:created>
  <dcterms:modified xsi:type="dcterms:W3CDTF">2025-12-23T05:15:02Z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E81877D4E7644EE28EEB464FDC57C844_13</vt:lpwstr>
  </property>
  <property fmtid="{D5CDD505-2E9C-101B-9397-08002B2CF9AE}" pid="3" name="KSOProductBuildVer">
    <vt:lpwstr>1033-12.2.0.21546</vt:lpwstr>
  </property>
</Properties>
</file>